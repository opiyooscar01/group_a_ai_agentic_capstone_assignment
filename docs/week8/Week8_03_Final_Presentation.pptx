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4224528"/>
            <a:ext cx="2926080" cy="28575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>
                <a:solidFill>
                  <a:srgbClr val="B8C4D6"/>
                </a:solidFill>
                <a:latin typeface="Calibri"/>
              </a:rPr>
              <a:t>MAKERERE UNIVERSITY  |  BSE4104 EMERGING TRENDS IN SOFTWARE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241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>
                <a:solidFill>
                  <a:srgbClr val="FFFFFF"/>
                </a:solidFill>
                <a:latin typeface="Calibri"/>
              </a:rPr>
              <a:t>University Student-Support
Case 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34840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4B183"/>
                </a:solidFill>
                <a:latin typeface="Calibri"/>
              </a:rPr>
              <a:t>Bounded agentic AI with grounded retrieval, typed tools and human approval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7772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FFFFF"/>
                </a:solidFill>
                <a:latin typeface="Calibri"/>
              </a:rPr>
              <a:t>Group A Day  |  Final release v1.0.0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B8C4D6"/>
                </a:solidFill>
                <a:latin typeface="Calibri"/>
              </a:rPr>
              <a:t>Namatovu C. M.  ·  Opiyo O.  ·  Isio L.  ·  Babirye S.  ·  Ogwal 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5074920"/>
            <a:ext cx="2377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FFFFF"/>
                </a:solidFill>
                <a:latin typeface="Calibri"/>
              </a:rPr>
              <a:t>Week 8</a:t>
            </a:r>
          </a:p>
          <a:p>
            <a:pPr algn="l">
              <a:lnSpc>
                <a:spcPct val="120000"/>
              </a:lnSpc>
            </a:pPr>
            <a:r>
              <a:rPr sz="1100" b="0">
                <a:solidFill>
                  <a:srgbClr val="B8C4D6"/>
                </a:solidFill>
                <a:latin typeface="Calibri"/>
              </a:rPr>
              <a:t>19-23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THE ONE-SLIDE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A narrow agent that knows its limits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The problem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Students lose time navigating fragmented support information, and staff repeat answers.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The response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700" b="0">
                <a:solidFill>
                  <a:srgbClr val="333333"/>
                </a:solidFill>
                <a:latin typeface="Calibri"/>
              </a:rPr>
              <a:t>A grounded agent that answers, looks up records and drafts cases — but never writes without consent.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The evidence</a:t>
            </a:r>
          </a:p>
          <a:p>
            <a:pPr algn="l">
              <a:lnSpc>
                <a:spcPct val="105000"/>
              </a:lnSpc>
            </a:pPr>
            <a:r>
              <a:rPr sz="1700" b="0">
                <a:solidFill>
                  <a:srgbClr val="333333"/>
                </a:solidFill>
                <a:latin typeface="Calibri"/>
              </a:rPr>
              <a:t>49 scenarios, 16 guardrail probes, 13 traces, 8 memory cases and one documented real failure.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6480" y="1691640"/>
            <a:ext cx="5486400" cy="41148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920240"/>
            <a:ext cx="49377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Design principle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600" b="1">
                <a:solidFill>
                  <a:srgbClr val="1F3864"/>
                </a:solidFill>
                <a:latin typeface="Calibri"/>
              </a:rPr>
              <a:t>Deterministic shell,
probabilistic core.</a:t>
            </a:r>
          </a:p>
          <a:p>
            <a:pPr algn="l">
              <a:lnSpc>
                <a:spcPct val="105000"/>
              </a:lnSpc>
            </a:pPr>
            <a:r>
              <a:rPr sz="1400" b="0">
                <a:solidFill>
                  <a:srgbClr val="595959"/>
                </a:solidFill>
                <a:latin typeface="Calibri"/>
              </a:rPr>
              <a:t>The model proposes one action. The host validates and executes it. Code — not prompt wording — enforces the boundary.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PROBLEM AND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What the agent may and may not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May answer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policy and procedure questions, with a citation or an honest abstention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May look up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case status and timetable records through typed, ownership-checked tools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May draft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a support case from the conversation, shown for approval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May create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a Pending case only after an explicit student 'yes'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Must refuse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fee decisions, academic-record changes and emergency actions — with handoff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95959"/>
                </a:solidFill>
                <a:latin typeface="Calibri"/>
              </a:rPr>
              <a:t>Twelve user stories; twelve traceability links; a boundary matrix agreed in Week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Built in layers, each one kept working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2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single-turn Gemini app with a system prompt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3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controlled retrieval over a twelve-document corpus, with citations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4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two typed tools, a router and the human approval gate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5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bounded plan-act-observe loop with validation and stop conditions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6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minimal memory (active case reference only) and an MCP-style contract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7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49-scenario evaluation, 16 guardrail probes, observability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Week 8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tagged v1.0.0 release, final report, evidence pack and demonstration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System overview: interface, retrieval, tools,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rag_tools_architecture_week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103" y="1600200"/>
            <a:ext cx="6571488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95959"/>
                </a:solidFill>
                <a:latin typeface="Calibri"/>
              </a:rPr>
              <a:t>Figure: Week 4 integration. Later weeks add the bounded loop, memory and evaluation around this 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MODEL AND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Gemini 2.0 Flash, versioned prompts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Why Flash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structured JSON, function calling, 1-3 s latency, free tier for evaluation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v1.0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single-turn role and task — baseline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v1.1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citation and abstention rules after unsupported answers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v2.0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mandatory JSON planner schema and allowed actions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v3.0-rag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tool catalogue, argument rules, stop conditions, approval rule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Lesson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prompting shapes behaviour; code enforces it. The approval rule had to move into the validation gate.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95959"/>
                </a:solidFill>
                <a:latin typeface="Calibri"/>
              </a:rPr>
              <a:t>Temperature 0.2; output bounded; one JSON action per iteration.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CONTEXT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Retrieval: grounded, cited, and willing to abstain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7</a:t>
            </a:r>
          </a:p>
        </p:txBody>
      </p:sp>
      <p:pic>
        <p:nvPicPr>
          <p:cNvPr id="9" name="Picture 8" descr="rag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540" y="1600200"/>
            <a:ext cx="7088614" cy="422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95959"/>
                </a:solidFill>
                <a:latin typeface="Calibri"/>
              </a:rPr>
              <a:t>12 synthetic documents · 180-word chunks with 30-word overlap · TF-IDF + cosine · top-3 · min score 0.14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Three narrow tools, one approval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37360"/>
          <a:ext cx="108813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206240"/>
                <a:gridCol w="3566160"/>
              </a:tblGrid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Tool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Guard</a:t>
                      </a:r>
                    </a:p>
                  </a:txBody>
                  <a:tcPr anchor="ctr">
                    <a:solidFill>
                      <a:srgbClr val="1F386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search_handbook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Retrieve and cite policy text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top-k, min score, citation check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lookup_case_or_timetable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Read case status or timetable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ownership, typed arguments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create_draft_support_case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Create a case in Pending state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explicit approval, 500-char cap</a:t>
                      </a:r>
                    </a:p>
                  </a:txBody>
                  <a:tcPr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4206240"/>
            <a:ext cx="1088136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C55A11"/>
                </a:solidFill>
                <a:latin typeface="Calibri"/>
              </a:rPr>
              <a:t>Host-injected identity and approval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333333"/>
                </a:solidFill>
                <a:latin typeface="Calibri"/>
              </a:rPr>
              <a:t>The model never supplies the student ID or the approval flag. It cannot impersonate a student or forge consent, because those values are added by the host after session validation.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AGENTIC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Bounded loop: propose, validate, execute, observe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week5_agent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87" y="1677904"/>
            <a:ext cx="7589520" cy="4069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95959"/>
                </a:solidFill>
                <a:latin typeface="Calibri"/>
              </a:rPr>
              <a:t>8 iterations · 6 tool calls · 3 questions · 2 repeats · 10 model calls · 60 s — every limit enforced in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STATE AND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Store a reference, not a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10</a:t>
            </a:r>
          </a:p>
        </p:txBody>
      </p:sp>
      <p:pic>
        <p:nvPicPr>
          <p:cNvPr id="9" name="Picture 8" descr="week6_stat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1087" y="1677904"/>
            <a:ext cx="7589520" cy="40691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9618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95959"/>
                </a:solidFill>
                <a:latin typeface="Calibri"/>
              </a:rPr>
              <a:t>active_case_id only · 30-day TTL · revalidated on every turn · deleted on request · audit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49 scenarios, six categories, four 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881360" cy="4480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Categories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12 answerable · 8 partial · 7 unanswerable · 10 tool/workflow · 7 safety · 5 memory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Criteria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task completion, goal recognition, tool selection, information faithfulness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Method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scripted planner for determinism; full trace for every run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Baseline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the Week 3 retrieval set adds 15 cases at 14/15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700" b="1">
                <a:solidFill>
                  <a:srgbClr val="C55A11"/>
                </a:solidFill>
                <a:latin typeface="Calibri"/>
              </a:rPr>
              <a:t>  Guardrails</a:t>
            </a:r>
          </a:p>
          <a:p>
            <a:pPr algn="l">
              <a:lnSpc>
                <a:spcPct val="100000"/>
              </a:lnSpc>
              <a:spcAft>
                <a:spcPts val="1200"/>
              </a:spcAft>
            </a:pPr>
            <a:r>
              <a:rPr sz="1500" b="0">
                <a:solidFill>
                  <a:srgbClr val="333333"/>
                </a:solidFill>
                <a:latin typeface="Calibri"/>
              </a:rPr>
              <a:t>     16 adversarial probes: 8 unauthorised writes, 8 safety attacks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893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595959"/>
                </a:solidFill>
                <a:latin typeface="Calibri"/>
              </a:rPr>
              <a:t>The harness ships with the repository, so results are reproducible, not asserted.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Every measured criterion met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  <p:pic>
        <p:nvPicPr>
          <p:cNvPr id="9" name="Picture 8" descr="week8_results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10789920" cy="37878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5852160"/>
            <a:ext cx="108813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0">
                <a:solidFill>
                  <a:srgbClr val="595959"/>
                </a:solidFill>
                <a:latin typeface="Calibri"/>
              </a:rPr>
              <a:t>Retained final run. Latency is scripted-planner orchestration time, not live model latency.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Guardrails are structural, not conversational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No write without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host-injected flag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173736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73736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82880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No model-supplied 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213969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schema forbids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69748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69748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7889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Tool whitelist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099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validation 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69748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269748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278892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Argument and length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09981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typed schemas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65760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3749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Bounded loop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" y="4059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code-enforced budgets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65760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63640" y="365760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64808" y="37490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No out-of-scope advice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405993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refusal + handoff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" y="4617720"/>
            <a:ext cx="5257800" cy="77724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617720"/>
            <a:ext cx="57150" cy="77724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" y="470916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1F3864"/>
                </a:solidFill>
                <a:latin typeface="Calibri"/>
              </a:rPr>
              <a:t>No transcript retention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02005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Calibri"/>
              </a:rPr>
              <a:t>memory 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53212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16/16 probes blocked. Zero unsafe writes. The approval gate holds even when the model is instructed to bypass it.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8C4D6"/>
                </a:solidFill>
                <a:latin typeface="Calibri"/>
              </a:rPr>
              <a:t>A REAL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R14: a retained wrong citation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45920"/>
            <a:ext cx="5486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4B183"/>
                </a:solidFill>
                <a:latin typeface="Calibri"/>
              </a:rPr>
              <a:t>What happens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 the retained Week 3 trace, a question about one procedure retrieves a lexically similar paragraph about another. The agent cited it instead of abstaining. The final boundary layer now refuses grade changes before retrieval.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4B183"/>
                </a:solidFill>
                <a:latin typeface="Calibri"/>
              </a:rPr>
              <a:t>Why it matters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A confident wrong answer is worse than an abstention in student support.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F4B183"/>
                </a:solidFill>
                <a:latin typeface="Calibri"/>
              </a:rPr>
              <a:t>What we did</a:t>
            </a:r>
          </a:p>
          <a:p>
            <a:pPr algn="l">
              <a:lnSpc>
                <a:spcPct val="105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Coverage guard (MIN_COVER=2) reaches 15/15 locally — but it is not merged, because the 49-scenario evidence predates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212080" cy="3566160"/>
          </a:xfrm>
          <a:prstGeom prst="rect">
            <a:avLst/>
          </a:prstGeom>
          <a:solidFill>
            <a:srgbClr val="2A46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1965960"/>
            <a:ext cx="46634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The verified / unverified split</a:t>
            </a:r>
          </a:p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9ED3A6"/>
                </a:solidFill>
                <a:latin typeface="Calibri"/>
              </a:rPr>
              <a:t>FC-12 to FC-14  —  before/after verified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300" b="1">
                <a:solidFill>
                  <a:srgbClr val="F4B183"/>
                </a:solidFill>
                <a:latin typeface="Calibri"/>
              </a:rPr>
              <a:t>FC-01 to FC-11  —  documented, baseline not preserved</a:t>
            </a:r>
          </a:p>
          <a:p>
            <a:pPr algn="l">
              <a:lnSpc>
                <a:spcPct val="105000"/>
              </a:lnSpc>
            </a:pPr>
            <a:r>
              <a:rPr sz="1200" b="0">
                <a:solidFill>
                  <a:srgbClr val="D6DEE9"/>
                </a:solidFill>
                <a:latin typeface="Calibri"/>
              </a:rPr>
              <a:t>We report the distinction instead of claiming fourteen verified fixes.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C55A11"/>
                </a:solidFill>
                <a:latin typeface="Calibri"/>
              </a:rPr>
              <a:t>LIVE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1F3864"/>
                </a:solidFill>
                <a:latin typeface="Calibri"/>
              </a:rPr>
              <a:t>12-15 minutes, including one real failure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4650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170992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Missing marks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172821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grounded answer → draft → approval → Pending 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04872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9736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242316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Case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24414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stored reference revalidated; real tool call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118104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172968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136392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Fee waiver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315468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refusal and handoff — no decision, no write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831336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886200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3849624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86791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resume the case, then 'forget my session'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544568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599432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562856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R14 failure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4581144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retained wrong citation, shown honestly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257800"/>
            <a:ext cx="502920" cy="50292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5312664"/>
            <a:ext cx="502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276088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1F3864"/>
                </a:solidFill>
                <a:latin typeface="Calibri"/>
              </a:rPr>
              <a:t>Evidence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294376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>
                <a:solidFill>
                  <a:srgbClr val="333333"/>
                </a:solidFill>
                <a:latin typeface="Calibri"/>
              </a:rPr>
              <a:t>results file and one full trace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59595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1">
                <a:solidFill>
                  <a:srgbClr val="B8C4D6"/>
                </a:solidFill>
                <a:latin typeface="Calibri"/>
              </a:rPr>
              <a:t>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Calibri"/>
              </a:rPr>
              <a:t>What we would do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4B183"/>
                </a:solidFill>
                <a:latin typeface="Calibri"/>
              </a:rPr>
              <a:t>Lessons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The hard part is the boundary, not the model call.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Evaluation artefacts are engineering artefacts: keep the revision, the trace and the command.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Data minimisation is a design decision, not a later feature.</a:t>
            </a:r>
          </a:p>
          <a:p>
            <a:pPr algn="l">
              <a:lnSpc>
                <a:spcPct val="110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Saying 'not verified' is part of good engineering.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00200"/>
            <a:ext cx="530352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4B183"/>
                </a:solidFill>
                <a:latin typeface="Calibri"/>
              </a:rPr>
              <a:t>Next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1.  Run the live Gemini planner end to end and retain traces.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2.  Preserve a pre-fix revision for every catalogue finding.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3.  Merge the coverage guard after a full regression.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4.  Re-run retrieval after DOC-12 v1.1; add held-out cases.</a:t>
            </a:r>
          </a:p>
          <a:p>
            <a:pPr algn="l">
              <a:lnSpc>
                <a:spcPct val="110000"/>
              </a:lnSpc>
            </a:pPr>
            <a:r>
              <a:rPr sz="1300" b="0">
                <a:solidFill>
                  <a:srgbClr val="FFFFFF"/>
                </a:solidFill>
                <a:latin typeface="Calibri"/>
              </a:rPr>
              <a:t>5.  Add CI, authentication, rate limiting and logging.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D6DEE9"/>
                </a:solidFill>
                <a:latin typeface="Calibri"/>
              </a:rPr>
              <a:t>Thank you — questions welcome.  Repository: github.com/OpiyoOscar01/group_A_ai_agentic_capstone_assignment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419088"/>
            <a:ext cx="11091672" cy="9525"/>
          </a:xfrm>
          <a:prstGeom prst="rect">
            <a:avLst/>
          </a:prstGeom>
          <a:solidFill>
            <a:srgbClr val="D0D7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Group A Day  |  BSE4104 Capstone  |  Release v1.0.0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60" y="6473952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5000"/>
              </a:lnSpc>
            </a:pPr>
            <a:r>
              <a:rPr sz="900" b="0">
                <a:solidFill>
                  <a:srgbClr val="B8C4D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